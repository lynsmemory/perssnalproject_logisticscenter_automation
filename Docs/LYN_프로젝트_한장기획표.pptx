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7562850" cy="10690225"/>
  <p:notesSz cx="10690225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B0C1EBC-7C76-42A8-AE61-2E496CFF78F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60E0D2-0637-4CD6-B3D3-D32B9ED0E7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78000" y="426240"/>
            <a:ext cx="6805440" cy="827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86532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378000" y="573912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386532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267876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97988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37800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267876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497988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6;p1"/>
          <p:cNvSpPr/>
          <p:nvPr/>
        </p:nvSpPr>
        <p:spPr>
          <a:xfrm>
            <a:off x="365760" y="292680"/>
            <a:ext cx="481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000" spc="-1" strike="noStrike">
                <a:solidFill>
                  <a:srgbClr val="1f2a44"/>
                </a:solidFill>
                <a:latin typeface="Malgun Gothic"/>
                <a:ea typeface="Malgun Gothic"/>
              </a:rPr>
              <a:t>프로젝트 한 장 기획표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" name="Google Shape;17;p1"/>
          <p:cNvSpPr/>
          <p:nvPr/>
        </p:nvSpPr>
        <p:spPr>
          <a:xfrm>
            <a:off x="365760" y="704160"/>
            <a:ext cx="481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8;p1"/>
          <p:cNvSpPr/>
          <p:nvPr/>
        </p:nvSpPr>
        <p:spPr>
          <a:xfrm>
            <a:off x="365760" y="1051560"/>
            <a:ext cx="1325520" cy="65808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9;p1"/>
          <p:cNvSpPr/>
          <p:nvPr/>
        </p:nvSpPr>
        <p:spPr>
          <a:xfrm>
            <a:off x="1691640" y="1051560"/>
            <a:ext cx="550440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20;p1"/>
          <p:cNvSpPr/>
          <p:nvPr/>
        </p:nvSpPr>
        <p:spPr>
          <a:xfrm>
            <a:off x="438840" y="1106280"/>
            <a:ext cx="1197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1.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기본 정보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팀명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팀원별 역할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제목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9" name="Google Shape;21;p1"/>
          <p:cNvSpPr/>
          <p:nvPr/>
        </p:nvSpPr>
        <p:spPr>
          <a:xfrm>
            <a:off x="1801440" y="1124640"/>
            <a:ext cx="5284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팀명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6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팀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(LYN)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제목  물류센터 자동 분류</a:t>
            </a:r>
            <a:r>
              <a:rPr b="1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파레타이징</a:t>
            </a:r>
            <a:r>
              <a:rPr b="1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출하 디지털 트윈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역할 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이영노 공정 씬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로봇암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AMR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지게차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대시보드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22;p1"/>
          <p:cNvSpPr/>
          <p:nvPr/>
        </p:nvSpPr>
        <p:spPr>
          <a:xfrm>
            <a:off x="365760" y="1783080"/>
            <a:ext cx="1325520" cy="56664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Google Shape;23;p1"/>
          <p:cNvSpPr/>
          <p:nvPr/>
        </p:nvSpPr>
        <p:spPr>
          <a:xfrm>
            <a:off x="1691640" y="1783080"/>
            <a:ext cx="5504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24;p1"/>
          <p:cNvSpPr/>
          <p:nvPr/>
        </p:nvSpPr>
        <p:spPr>
          <a:xfrm>
            <a:off x="438840" y="1837800"/>
            <a:ext cx="119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2.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공정 한 문장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무엇이 들어와 → 어디서 → 어떻게 검사 → 어디로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3" name="Google Shape;25;p1"/>
          <p:cNvSpPr/>
          <p:nvPr/>
        </p:nvSpPr>
        <p:spPr>
          <a:xfrm>
            <a:off x="1801440" y="1856160"/>
            <a:ext cx="5284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박스 투입 → 상시 운전 컨베이어 이송 → 바코드 또는 색상 판별 → 지정 분류 레인의 중력 슬로프로 배출 →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FR5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진공흡착 파레타이징 → 적재 완료 파레트를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AMR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지게차로 운반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·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상차 → 차량 만재 시 출발 및 교체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26;p1"/>
          <p:cNvSpPr/>
          <p:nvPr/>
        </p:nvSpPr>
        <p:spPr>
          <a:xfrm>
            <a:off x="365760" y="2423160"/>
            <a:ext cx="1325520" cy="146268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27;p1"/>
          <p:cNvSpPr/>
          <p:nvPr/>
        </p:nvSpPr>
        <p:spPr>
          <a:xfrm>
            <a:off x="1691640" y="2423160"/>
            <a:ext cx="550440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28;p1"/>
          <p:cNvSpPr/>
          <p:nvPr/>
        </p:nvSpPr>
        <p:spPr>
          <a:xfrm>
            <a:off x="438840" y="2477880"/>
            <a:ext cx="11973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3.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공정 흐름도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스테이션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4~6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개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각 단계 담당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(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로봇암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/AMR/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장비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7" name="Google Shape;29;p1"/>
          <p:cNvSpPr/>
          <p:nvPr/>
        </p:nvSpPr>
        <p:spPr>
          <a:xfrm>
            <a:off x="1801440" y="2670120"/>
            <a:ext cx="895680" cy="968760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>
            <a:solidFill>
              <a:srgbClr val="9db3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Google Shape;30;p1"/>
          <p:cNvSpPr/>
          <p:nvPr/>
        </p:nvSpPr>
        <p:spPr>
          <a:xfrm>
            <a:off x="1837800" y="2724840"/>
            <a:ext cx="82260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투입</a:t>
            </a:r>
            <a:r>
              <a:rPr b="1" lang="en-US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이송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박스 생성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간격 유지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컨베이어 상시 운전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31;p1"/>
          <p:cNvSpPr/>
          <p:nvPr/>
        </p:nvSpPr>
        <p:spPr>
          <a:xfrm>
            <a:off x="2737800" y="3081600"/>
            <a:ext cx="1202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>
            <a:solidFill>
              <a:srgbClr val="9aa6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32;p1"/>
          <p:cNvSpPr/>
          <p:nvPr/>
        </p:nvSpPr>
        <p:spPr>
          <a:xfrm>
            <a:off x="2898720" y="2670120"/>
            <a:ext cx="895680" cy="968760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>
            <a:solidFill>
              <a:srgbClr val="9db3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33;p1"/>
          <p:cNvSpPr/>
          <p:nvPr/>
        </p:nvSpPr>
        <p:spPr>
          <a:xfrm>
            <a:off x="2935080" y="2724840"/>
            <a:ext cx="82260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인식</a:t>
            </a:r>
            <a:r>
              <a:rPr b="1" lang="en-US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분류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목적 레인 결정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(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바코드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),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분기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중력 슬로프 배출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34;p1"/>
          <p:cNvSpPr/>
          <p:nvPr/>
        </p:nvSpPr>
        <p:spPr>
          <a:xfrm>
            <a:off x="3835080" y="3081600"/>
            <a:ext cx="1202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>
            <a:solidFill>
              <a:srgbClr val="9aa6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Google Shape;35;p1"/>
          <p:cNvSpPr/>
          <p:nvPr/>
        </p:nvSpPr>
        <p:spPr>
          <a:xfrm>
            <a:off x="3996000" y="2670120"/>
            <a:ext cx="895680" cy="968760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>
            <a:solidFill>
              <a:srgbClr val="9db3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Google Shape;36;p1"/>
          <p:cNvSpPr/>
          <p:nvPr/>
        </p:nvSpPr>
        <p:spPr>
          <a:xfrm>
            <a:off x="4032360" y="2724840"/>
            <a:ext cx="82260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파레타이징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FR5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흡착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적재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파레트 적재 완료 판정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37;p1"/>
          <p:cNvSpPr/>
          <p:nvPr/>
        </p:nvSpPr>
        <p:spPr>
          <a:xfrm>
            <a:off x="4932360" y="3081600"/>
            <a:ext cx="1202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>
            <a:solidFill>
              <a:srgbClr val="9aa6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38;p1"/>
          <p:cNvSpPr/>
          <p:nvPr/>
        </p:nvSpPr>
        <p:spPr>
          <a:xfrm>
            <a:off x="5093280" y="2670120"/>
            <a:ext cx="895680" cy="968760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>
            <a:solidFill>
              <a:srgbClr val="9db3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39;p1"/>
          <p:cNvSpPr/>
          <p:nvPr/>
        </p:nvSpPr>
        <p:spPr>
          <a:xfrm>
            <a:off x="5129640" y="2724840"/>
            <a:ext cx="82260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운반</a:t>
            </a:r>
            <a:r>
              <a:rPr b="1" lang="en-US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상차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AMR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파레트 인양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이동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차량 상차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40;p1"/>
          <p:cNvSpPr/>
          <p:nvPr/>
        </p:nvSpPr>
        <p:spPr>
          <a:xfrm>
            <a:off x="6029640" y="3081600"/>
            <a:ext cx="1202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>
            <a:solidFill>
              <a:srgbClr val="9aa6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41;p1"/>
          <p:cNvSpPr/>
          <p:nvPr/>
        </p:nvSpPr>
        <p:spPr>
          <a:xfrm>
            <a:off x="6190560" y="2670120"/>
            <a:ext cx="895680" cy="968760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>
            <a:solidFill>
              <a:srgbClr val="9db3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42;p1"/>
          <p:cNvSpPr/>
          <p:nvPr/>
        </p:nvSpPr>
        <p:spPr>
          <a:xfrm>
            <a:off x="6226920" y="2724840"/>
            <a:ext cx="82260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출하</a:t>
            </a:r>
            <a:r>
              <a:rPr b="1" lang="en-US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1" lang="zh-CN" sz="95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교체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차량 만재 판정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출발</a:t>
            </a: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다음 차량 배치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43;p1"/>
          <p:cNvSpPr/>
          <p:nvPr/>
        </p:nvSpPr>
        <p:spPr>
          <a:xfrm>
            <a:off x="365760" y="3959280"/>
            <a:ext cx="1325520" cy="120672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Google Shape;44;p1"/>
          <p:cNvSpPr/>
          <p:nvPr/>
        </p:nvSpPr>
        <p:spPr>
          <a:xfrm>
            <a:off x="1691640" y="3959280"/>
            <a:ext cx="5504400" cy="12067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Google Shape;45;p1"/>
          <p:cNvSpPr/>
          <p:nvPr/>
        </p:nvSpPr>
        <p:spPr>
          <a:xfrm>
            <a:off x="438840" y="4014360"/>
            <a:ext cx="1197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4.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구현 방식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단계별로 물리 구현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/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추상화 구분</a:t>
            </a:r>
            <a:endParaRPr b="0" lang="en-US" sz="800" spc="-1" strike="noStrike">
              <a:latin typeface="Arial"/>
            </a:endParaRPr>
          </a:p>
        </p:txBody>
      </p:sp>
      <p:graphicFrame>
        <p:nvGraphicFramePr>
          <p:cNvPr id="74" name="Google Shape;46;p1"/>
          <p:cNvGraphicFramePr/>
          <p:nvPr/>
        </p:nvGraphicFramePr>
        <p:xfrm>
          <a:off x="1801440" y="4050720"/>
          <a:ext cx="5284800" cy="1005480"/>
        </p:xfrm>
        <a:graphic>
          <a:graphicData uri="http://schemas.openxmlformats.org/drawingml/2006/table">
            <a:tbl>
              <a:tblPr/>
              <a:tblGrid>
                <a:gridCol w="1143000"/>
                <a:gridCol w="639720"/>
                <a:gridCol w="3502080"/>
              </a:tblGrid>
              <a:tr h="202320"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</a:rPr>
                        <a:t>구현 메모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solidFill>
                      <a:srgbClr val="f2f4f8"/>
                    </a:solidFill>
                  </a:tcPr>
                </a:tc>
              </a:tr>
              <a:tr h="202320"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이송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분류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혼합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컨베이어 상시 운전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센서 속성 판독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분기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중력 슬로프 이송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</a:tr>
              <a:tr h="202320"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FR5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파레타이징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혼합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관절 제어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IK,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진공흡착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해제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지정 위치 적재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</a:tr>
              <a:tr h="202320"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운반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상차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혼합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AMR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경로 탐색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장애물 대응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포크 승강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차량 상차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</a:tr>
              <a:tr h="202320"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공정 제어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출하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추상화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설비 간 작업 인계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적재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만재 판정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차량 교체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b="0" lang="zh-CN" sz="900" spc="-1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상태 표시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9360">
                      <a:solidFill>
                        <a:srgbClr val="d3d9e3"/>
                      </a:solidFill>
                    </a:lnL>
                    <a:lnR w="9360">
                      <a:solidFill>
                        <a:srgbClr val="d3d9e3"/>
                      </a:solidFill>
                    </a:lnR>
                    <a:lnT w="9360">
                      <a:solidFill>
                        <a:srgbClr val="d3d9e3"/>
                      </a:solidFill>
                    </a:lnT>
                    <a:lnB w="9360">
                      <a:solidFill>
                        <a:srgbClr val="d3d9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5" name="Google Shape;47;p1"/>
          <p:cNvSpPr/>
          <p:nvPr/>
        </p:nvSpPr>
        <p:spPr>
          <a:xfrm>
            <a:off x="365760" y="5239440"/>
            <a:ext cx="1325520" cy="73116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Google Shape;48;p1"/>
          <p:cNvSpPr/>
          <p:nvPr/>
        </p:nvSpPr>
        <p:spPr>
          <a:xfrm>
            <a:off x="1691640" y="5239440"/>
            <a:ext cx="5504400" cy="73116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Google Shape;49;p1"/>
          <p:cNvSpPr/>
          <p:nvPr/>
        </p:nvSpPr>
        <p:spPr>
          <a:xfrm>
            <a:off x="438840" y="5294520"/>
            <a:ext cx="1197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5.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어려운 점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1~2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개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대응 아이디어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8" name="Google Shape;50;p1"/>
          <p:cNvSpPr/>
          <p:nvPr/>
        </p:nvSpPr>
        <p:spPr>
          <a:xfrm>
            <a:off x="1801440" y="5312520"/>
            <a:ext cx="5284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39680" indent="-139680">
              <a:lnSpc>
                <a:spcPct val="100000"/>
              </a:lnSpc>
              <a:buClr>
                <a:srgbClr val="1d4ed8"/>
              </a:buClr>
              <a:buFont typeface="Malgun Gothic"/>
              <a:buChar char="•"/>
            </a:pP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박스를 물리 그립으로 잡으면 미끄러짐 → 정해진 지점에 붙였다 떼는 흡착방식 엔드이펙터로 처리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39680" indent="-139680">
              <a:lnSpc>
                <a:spcPct val="100000"/>
              </a:lnSpc>
              <a:buClr>
                <a:srgbClr val="1d4ed8"/>
              </a:buClr>
              <a:buFont typeface="Malgun Gothic"/>
              <a:buChar char="•"/>
            </a:pP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박스 크기마다 적재 위치를 계산하기 어려움 →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MVP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는 박스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1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종을 사용하고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미리 지정한 위치에 순서대로 적재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51;p1"/>
          <p:cNvSpPr/>
          <p:nvPr/>
        </p:nvSpPr>
        <p:spPr>
          <a:xfrm>
            <a:off x="365760" y="6044040"/>
            <a:ext cx="1325520" cy="71280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52;p1"/>
          <p:cNvSpPr/>
          <p:nvPr/>
        </p:nvSpPr>
        <p:spPr>
          <a:xfrm>
            <a:off x="1691640" y="6044040"/>
            <a:ext cx="550440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53;p1"/>
          <p:cNvSpPr/>
          <p:nvPr/>
        </p:nvSpPr>
        <p:spPr>
          <a:xfrm>
            <a:off x="438840" y="6099120"/>
            <a:ext cx="1197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6.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디지털 트윈 요소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보여줄 데이터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이상 상황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1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개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2" name="Google Shape;54;p1"/>
          <p:cNvSpPr/>
          <p:nvPr/>
        </p:nvSpPr>
        <p:spPr>
          <a:xfrm>
            <a:off x="1801440" y="6117480"/>
            <a:ext cx="5284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latin typeface="Malgun Gothic"/>
                <a:ea typeface="Malgun Gothic"/>
              </a:rPr>
              <a:t>데이터</a:t>
            </a:r>
            <a:r>
              <a:rPr b="1" lang="en-US" sz="1000" spc="-1" strike="noStrike">
                <a:latin typeface="Malgun Gothic"/>
                <a:ea typeface="Malgun Gothic"/>
              </a:rPr>
              <a:t>:</a:t>
            </a:r>
            <a:r>
              <a:rPr b="0" lang="en-US" sz="1000" spc="-1" strike="noStrike">
                <a:latin typeface="Malgun Gothic"/>
                <a:ea typeface="Malgun Gothic"/>
              </a:rPr>
              <a:t> </a:t>
            </a:r>
            <a:r>
              <a:rPr b="0" lang="zh-CN" sz="1000" spc="-1" strike="noStrike">
                <a:latin typeface="Malgun Gothic"/>
                <a:ea typeface="Malgun Gothic"/>
              </a:rPr>
              <a:t>시간당 박스 처리량</a:t>
            </a:r>
            <a:r>
              <a:rPr b="0" lang="en-US" sz="1000" spc="-1" strike="noStrike"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latin typeface="Malgun Gothic"/>
                <a:ea typeface="Malgun Gothic"/>
              </a:rPr>
              <a:t>레인별 대기 박스 수</a:t>
            </a:r>
            <a:r>
              <a:rPr b="0" lang="en-US" sz="1000" spc="-1" strike="noStrike"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latin typeface="Malgun Gothic"/>
                <a:ea typeface="Malgun Gothic"/>
              </a:rPr>
              <a:t>파레트 적재 단수</a:t>
            </a:r>
            <a:r>
              <a:rPr b="0" lang="en-US" sz="1000" spc="-1" strike="noStrike"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latin typeface="Malgun Gothic"/>
                <a:ea typeface="Malgun Gothic"/>
              </a:rPr>
              <a:t>설비 상태</a:t>
            </a:r>
            <a:r>
              <a:rPr b="0" lang="en-US" sz="1000" spc="-1" strike="noStrike"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latin typeface="Malgun Gothic"/>
                <a:ea typeface="Malgun Gothic"/>
              </a:rPr>
              <a:t>차량 상차 파레트 수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latin typeface="Malgun Gothic"/>
                <a:ea typeface="Malgun Gothic"/>
              </a:rPr>
              <a:t>이상 상황</a:t>
            </a:r>
            <a:r>
              <a:rPr b="1" lang="en-US" sz="1000" spc="-1" strike="noStrike">
                <a:latin typeface="Malgun Gothic"/>
                <a:ea typeface="Malgun Gothic"/>
              </a:rPr>
              <a:t>:</a:t>
            </a:r>
            <a:r>
              <a:rPr b="0" lang="en-US" sz="1000" spc="-1" strike="noStrike">
                <a:latin typeface="Malgun Gothic"/>
                <a:ea typeface="Malgun Gothic"/>
              </a:rPr>
              <a:t> </a:t>
            </a:r>
            <a:r>
              <a:rPr b="0" lang="zh-CN" sz="1000" spc="-1" strike="noStrike">
                <a:latin typeface="Malgun Gothic"/>
                <a:ea typeface="Malgun Gothic"/>
              </a:rPr>
              <a:t>슬로프 출구 정체 → 해당 레인 투입 제한</a:t>
            </a:r>
            <a:r>
              <a:rPr b="0" lang="en-US" sz="1000" spc="-1" strike="noStrike"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latin typeface="Malgun Gothic"/>
                <a:ea typeface="Malgun Gothic"/>
              </a:rPr>
              <a:t>알람 표시 → 정체 해소 후 재개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" name="Google Shape;55;p1"/>
          <p:cNvSpPr/>
          <p:nvPr/>
        </p:nvSpPr>
        <p:spPr>
          <a:xfrm>
            <a:off x="365760" y="6830640"/>
            <a:ext cx="1325520" cy="82260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Google Shape;56;p1"/>
          <p:cNvSpPr/>
          <p:nvPr/>
        </p:nvSpPr>
        <p:spPr>
          <a:xfrm>
            <a:off x="1691640" y="6830640"/>
            <a:ext cx="5504400" cy="82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Google Shape;57;p1"/>
          <p:cNvSpPr/>
          <p:nvPr/>
        </p:nvSpPr>
        <p:spPr>
          <a:xfrm>
            <a:off x="438840" y="6885360"/>
            <a:ext cx="1197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7. MVP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와 일정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한 사이클 완성 날짜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·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마일스톤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2~3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개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6" name="Google Shape;58;p1"/>
          <p:cNvSpPr/>
          <p:nvPr/>
        </p:nvSpPr>
        <p:spPr>
          <a:xfrm>
            <a:off x="1801440" y="6903720"/>
            <a:ext cx="5284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latin typeface="Malgun Gothic"/>
                <a:ea typeface="Malgun Gothic"/>
              </a:rPr>
              <a:t>MVP :</a:t>
            </a:r>
            <a:r>
              <a:rPr b="0" lang="en-US" sz="1000" spc="-1" strike="noStrike">
                <a:latin typeface="Malgun Gothic"/>
                <a:ea typeface="Malgun Gothic"/>
              </a:rPr>
              <a:t> 11/3 </a:t>
            </a:r>
            <a:r>
              <a:rPr b="0" lang="zh-CN" sz="1000" spc="-1" strike="noStrike">
                <a:latin typeface="Malgun Gothic"/>
                <a:ea typeface="Malgun Gothic"/>
              </a:rPr>
              <a:t>박스 </a:t>
            </a:r>
            <a:r>
              <a:rPr b="0" lang="en-US" sz="1000" spc="-1" strike="noStrike">
                <a:latin typeface="Malgun Gothic"/>
                <a:ea typeface="Malgun Gothic"/>
              </a:rPr>
              <a:t>1</a:t>
            </a:r>
            <a:r>
              <a:rPr b="0" lang="zh-CN" sz="1000" spc="-1" strike="noStrike">
                <a:latin typeface="Malgun Gothic"/>
                <a:ea typeface="Malgun Gothic"/>
              </a:rPr>
              <a:t>종으로 투입 → 분류 → </a:t>
            </a:r>
            <a:r>
              <a:rPr b="0" lang="en-US" sz="1000" spc="-1" strike="noStrike">
                <a:latin typeface="Malgun Gothic"/>
                <a:ea typeface="Malgun Gothic"/>
              </a:rPr>
              <a:t>FR5 </a:t>
            </a:r>
            <a:r>
              <a:rPr b="0" lang="zh-CN" sz="1000" spc="-1" strike="noStrike">
                <a:latin typeface="Malgun Gothic"/>
                <a:ea typeface="Malgun Gothic"/>
              </a:rPr>
              <a:t>적재 → </a:t>
            </a:r>
            <a:r>
              <a:rPr b="0" lang="en-US" sz="1000" spc="-1" strike="noStrike">
                <a:latin typeface="Malgun Gothic"/>
                <a:ea typeface="Malgun Gothic"/>
              </a:rPr>
              <a:t>AMR </a:t>
            </a:r>
            <a:r>
              <a:rPr b="0" lang="zh-CN" sz="1000" spc="-1" strike="noStrike">
                <a:latin typeface="Malgun Gothic"/>
                <a:ea typeface="Malgun Gothic"/>
              </a:rPr>
              <a:t>운반</a:t>
            </a:r>
            <a:r>
              <a:rPr b="0" lang="en-US" sz="1000" spc="-1" strike="noStrike">
                <a:latin typeface="Malgun Gothic"/>
                <a:ea typeface="Malgun Gothic"/>
              </a:rPr>
              <a:t>·</a:t>
            </a:r>
            <a:r>
              <a:rPr b="0" lang="zh-CN" sz="1000" spc="-1" strike="noStrike">
                <a:latin typeface="Malgun Gothic"/>
                <a:ea typeface="Malgun Gothic"/>
              </a:rPr>
              <a:t>상차 → 차량 출하까지 한 사이클 완료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latin typeface="Malgun Gothic"/>
                <a:ea typeface="Malgun Gothic"/>
              </a:rPr>
              <a:t>마일스톤</a:t>
            </a:r>
            <a:r>
              <a:rPr b="1" lang="en-US" sz="1000" spc="-1" strike="noStrike">
                <a:latin typeface="Malgun Gothic"/>
                <a:ea typeface="Malgun Gothic"/>
              </a:rPr>
              <a:t>:</a:t>
            </a:r>
            <a:r>
              <a:rPr b="0" lang="en-US" sz="1000" spc="-1" strike="noStrike">
                <a:latin typeface="Malgun Gothic"/>
                <a:ea typeface="Malgun Gothic"/>
              </a:rPr>
              <a:t> 10/28~29 </a:t>
            </a:r>
            <a:r>
              <a:rPr b="0" lang="zh-CN" sz="1000" spc="-1" strike="noStrike">
                <a:latin typeface="Malgun Gothic"/>
                <a:ea typeface="Malgun Gothic"/>
              </a:rPr>
              <a:t>씬 구성 → </a:t>
            </a:r>
            <a:r>
              <a:rPr b="0" lang="en-US" sz="1000" spc="-1" strike="noStrike">
                <a:latin typeface="Malgun Gothic"/>
                <a:ea typeface="Malgun Gothic"/>
              </a:rPr>
              <a:t>10/30~11/2 </a:t>
            </a:r>
            <a:r>
              <a:rPr b="0" lang="zh-CN" sz="1000" spc="-1" strike="noStrike">
                <a:latin typeface="Malgun Gothic"/>
                <a:ea typeface="Malgun Gothic"/>
              </a:rPr>
              <a:t>공정 구현 → </a:t>
            </a:r>
            <a:r>
              <a:rPr b="0" lang="en-US" sz="1000" spc="-1" strike="noStrike">
                <a:latin typeface="Malgun Gothic"/>
                <a:ea typeface="Malgun Gothic"/>
              </a:rPr>
              <a:t>11/3 </a:t>
            </a:r>
            <a:r>
              <a:rPr b="0" lang="zh-CN" sz="1000" spc="-1" strike="noStrike">
                <a:latin typeface="Malgun Gothic"/>
                <a:ea typeface="Malgun Gothic"/>
              </a:rPr>
              <a:t>통합</a:t>
            </a:r>
            <a:r>
              <a:rPr b="0" lang="en-US" sz="1000" spc="-1" strike="noStrike">
                <a:latin typeface="Malgun Gothic"/>
                <a:ea typeface="Malgun Gothic"/>
              </a:rPr>
              <a:t>·MVP </a:t>
            </a:r>
            <a:r>
              <a:rPr b="0" lang="zh-CN" sz="1000" spc="-1" strike="noStrike">
                <a:latin typeface="Malgun Gothic"/>
                <a:ea typeface="Malgun Gothic"/>
              </a:rPr>
              <a:t>완료 → </a:t>
            </a:r>
            <a:r>
              <a:rPr b="0" lang="en-US" sz="1000" spc="-1" strike="noStrike">
                <a:latin typeface="Malgun Gothic"/>
                <a:ea typeface="Malgun Gothic"/>
              </a:rPr>
              <a:t>11/4 </a:t>
            </a:r>
            <a:r>
              <a:rPr b="0" lang="zh-CN" sz="1000" spc="-1" strike="noStrike">
                <a:latin typeface="Malgun Gothic"/>
                <a:ea typeface="Malgun Gothic"/>
              </a:rPr>
              <a:t>테스트</a:t>
            </a:r>
            <a:r>
              <a:rPr b="0" lang="en-US" sz="1000" spc="-1" strike="noStrike">
                <a:latin typeface="Malgun Gothic"/>
                <a:ea typeface="Malgun Gothic"/>
              </a:rPr>
              <a:t>·</a:t>
            </a:r>
            <a:r>
              <a:rPr b="0" lang="zh-CN" sz="1000" spc="-1" strike="noStrike">
                <a:latin typeface="Malgun Gothic"/>
                <a:ea typeface="Malgun Gothic"/>
              </a:rPr>
              <a:t>버그 수정 → </a:t>
            </a:r>
            <a:r>
              <a:rPr b="0" lang="en-US" sz="1000" spc="-1" strike="noStrike">
                <a:latin typeface="Malgun Gothic"/>
                <a:ea typeface="Malgun Gothic"/>
              </a:rPr>
              <a:t>11/5 </a:t>
            </a:r>
            <a:r>
              <a:rPr b="0" lang="zh-CN" sz="1000" spc="-1" strike="noStrike">
                <a:latin typeface="Malgun Gothic"/>
                <a:ea typeface="Malgun Gothic"/>
              </a:rPr>
              <a:t>최종 발표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" name="Google Shape;59;p1"/>
          <p:cNvSpPr/>
          <p:nvPr/>
        </p:nvSpPr>
        <p:spPr>
          <a:xfrm>
            <a:off x="365760" y="7726680"/>
            <a:ext cx="1325520" cy="91404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Google Shape;60;p1"/>
          <p:cNvSpPr/>
          <p:nvPr/>
        </p:nvSpPr>
        <p:spPr>
          <a:xfrm>
            <a:off x="1691640" y="7726680"/>
            <a:ext cx="5504400" cy="9140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61;p1"/>
          <p:cNvSpPr/>
          <p:nvPr/>
        </p:nvSpPr>
        <p:spPr>
          <a:xfrm>
            <a:off x="438840" y="7781400"/>
            <a:ext cx="11973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8.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확장 계획 </a:t>
            </a: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(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선택</a:t>
            </a: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ML / ROS2 / 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없음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ROS2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는 </a:t>
            </a:r>
            <a:r>
              <a:rPr b="0" lang="en-US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4</a:t>
            </a: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가지 추가 작성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0" name="Google Shape;62;p1"/>
          <p:cNvSpPr/>
          <p:nvPr/>
        </p:nvSpPr>
        <p:spPr>
          <a:xfrm>
            <a:off x="1801440" y="7799760"/>
            <a:ext cx="5284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선택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■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ML 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□ ROS2   □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없음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기능 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슬로프 도착 박스의 위치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회전 인식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/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로봇 이동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흡착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적재는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IK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와 스크립트로 처리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담당 </a:t>
            </a:r>
            <a:r>
              <a:rPr b="1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연결 테스트 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담당자 이영노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, 11/1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까지 학습 모델의 인식 결과와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Unity 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픽업 동작 연결 확인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전환 기준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11/2</a:t>
            </a:r>
            <a:r>
              <a:rPr b="0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까지 인식이 불안정하면 가이드로 위치를 정렬하고 회전각 인식만 적용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63;p1"/>
          <p:cNvSpPr/>
          <p:nvPr/>
        </p:nvSpPr>
        <p:spPr>
          <a:xfrm>
            <a:off x="365760" y="8714160"/>
            <a:ext cx="1325520" cy="1462680"/>
          </a:xfrm>
          <a:prstGeom prst="rect">
            <a:avLst/>
          </a:prstGeom>
          <a:solidFill>
            <a:srgbClr val="e9edf4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Google Shape;64;p1"/>
          <p:cNvSpPr/>
          <p:nvPr/>
        </p:nvSpPr>
        <p:spPr>
          <a:xfrm>
            <a:off x="1691640" y="8714160"/>
            <a:ext cx="5504400" cy="1462680"/>
          </a:xfrm>
          <a:prstGeom prst="rect">
            <a:avLst/>
          </a:prstGeom>
          <a:solidFill>
            <a:srgbClr val="ffffff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Google Shape;65;p1"/>
          <p:cNvSpPr/>
          <p:nvPr/>
        </p:nvSpPr>
        <p:spPr>
          <a:xfrm>
            <a:off x="438840" y="8769240"/>
            <a:ext cx="11973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9. </a:t>
            </a:r>
            <a:r>
              <a:rPr b="1" lang="zh-CN" sz="1050" spc="-1" strike="noStrike">
                <a:solidFill>
                  <a:srgbClr val="1f2a44"/>
                </a:solidFill>
                <a:latin typeface="Malgun Gothic"/>
                <a:ea typeface="Malgun Gothic"/>
              </a:rPr>
              <a:t>멘토 피드백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00" spc="-1" strike="noStrike">
                <a:solidFill>
                  <a:srgbClr val="7a8597"/>
                </a:solidFill>
                <a:latin typeface="Malgun Gothic"/>
                <a:ea typeface="Malgun Gothic"/>
              </a:rPr>
              <a:t>멘토 작성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4" name="Google Shape;66;p1"/>
          <p:cNvSpPr/>
          <p:nvPr/>
        </p:nvSpPr>
        <p:spPr>
          <a:xfrm>
            <a:off x="1691640" y="8714160"/>
            <a:ext cx="5504400" cy="1462680"/>
          </a:xfrm>
          <a:prstGeom prst="rect">
            <a:avLst/>
          </a:prstGeom>
          <a:solidFill>
            <a:srgbClr val="fff9ec"/>
          </a:solidFill>
          <a:ln w="9525">
            <a:solidFill>
              <a:srgbClr val="b9c2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67;p1"/>
          <p:cNvSpPr/>
          <p:nvPr/>
        </p:nvSpPr>
        <p:spPr>
          <a:xfrm>
            <a:off x="1801440" y="8787240"/>
            <a:ext cx="528480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결론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□ 진행   </a:t>
            </a:r>
            <a:r>
              <a:rPr b="0" lang="en-US" sz="10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□ 조건부 진행   □ 재검토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2026-10-27T02:26:25Z</dcterms:created>
  <dc:creator>PptxGenJS</dc:creator>
  <dc:description/>
  <dc:language>en-US</dc:language>
  <cp:lastModifiedBy/>
  <dcterms:modified xsi:type="dcterms:W3CDTF">2026-10-27T12:36:31Z</dcterms:modified>
  <cp:revision>4</cp:revision>
  <dc:subject/>
  <dc:title/>
</cp:coreProperties>
</file>